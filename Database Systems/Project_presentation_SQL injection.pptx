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Bold" charset="1" panose="02020803070505020304"/>
      <p:regular r:id="rId17"/>
    </p:embeddedFont>
    <p:embeddedFont>
      <p:font typeface="Times New Roman" charset="1" panose="0202060305040502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310819" y="0"/>
            <a:ext cx="2977181" cy="2977181"/>
            <a:chOff x="0" y="0"/>
            <a:chExt cx="3969575" cy="39695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536399" y="1655882"/>
            <a:ext cx="1321300" cy="13213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5703926" y="7490954"/>
            <a:ext cx="1488591" cy="14885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857699" y="334582"/>
            <a:ext cx="1321300" cy="13213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6799409" y="8798409"/>
            <a:ext cx="1488591" cy="148859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4215335" y="7490954"/>
            <a:ext cx="1488591" cy="14885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587226" y="2083926"/>
            <a:ext cx="6672074" cy="4955004"/>
            <a:chOff x="0" y="0"/>
            <a:chExt cx="1757254" cy="13050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57254" cy="1305022"/>
            </a:xfrm>
            <a:custGeom>
              <a:avLst/>
              <a:gdLst/>
              <a:ahLst/>
              <a:cxnLst/>
              <a:rect r="r" b="b" t="t" l="l"/>
              <a:pathLst>
                <a:path h="1305022" w="1757254">
                  <a:moveTo>
                    <a:pt x="34810" y="0"/>
                  </a:moveTo>
                  <a:lnTo>
                    <a:pt x="1722444" y="0"/>
                  </a:lnTo>
                  <a:cubicBezTo>
                    <a:pt x="1731676" y="0"/>
                    <a:pt x="1740530" y="3668"/>
                    <a:pt x="1747058" y="10196"/>
                  </a:cubicBezTo>
                  <a:cubicBezTo>
                    <a:pt x="1753587" y="16724"/>
                    <a:pt x="1757254" y="25578"/>
                    <a:pt x="1757254" y="34810"/>
                  </a:cubicBezTo>
                  <a:lnTo>
                    <a:pt x="1757254" y="1270211"/>
                  </a:lnTo>
                  <a:cubicBezTo>
                    <a:pt x="1757254" y="1289436"/>
                    <a:pt x="1741669" y="1305022"/>
                    <a:pt x="1722444" y="1305022"/>
                  </a:cubicBezTo>
                  <a:lnTo>
                    <a:pt x="34810" y="1305022"/>
                  </a:lnTo>
                  <a:cubicBezTo>
                    <a:pt x="15585" y="1305022"/>
                    <a:pt x="0" y="1289436"/>
                    <a:pt x="0" y="1270211"/>
                  </a:cubicBezTo>
                  <a:lnTo>
                    <a:pt x="0" y="34810"/>
                  </a:lnTo>
                  <a:cubicBezTo>
                    <a:pt x="0" y="15585"/>
                    <a:pt x="15585" y="0"/>
                    <a:pt x="348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1757254" cy="1285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0587226" y="2083926"/>
            <a:ext cx="6732280" cy="4955004"/>
          </a:xfrm>
          <a:custGeom>
            <a:avLst/>
            <a:gdLst/>
            <a:ahLst/>
            <a:cxnLst/>
            <a:rect r="r" b="b" t="t" l="l"/>
            <a:pathLst>
              <a:path h="4955004" w="6732280">
                <a:moveTo>
                  <a:pt x="0" y="0"/>
                </a:moveTo>
                <a:lnTo>
                  <a:pt x="6732280" y="0"/>
                </a:lnTo>
                <a:lnTo>
                  <a:pt x="6732280" y="4955004"/>
                </a:lnTo>
                <a:lnTo>
                  <a:pt x="0" y="4955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9" t="0" r="-5965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42093" y="2827878"/>
            <a:ext cx="9523665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SQL Injection Detection and Prevention Techniques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89091" y="4903404"/>
            <a:ext cx="6429669" cy="333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699" spc="26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  <a:r>
              <a:rPr lang="en-US" sz="2699" spc="26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Sarita Sangrez, Amna Ali, Eman Akbar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 spc="26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699" spc="26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Department: </a:t>
            </a:r>
            <a:r>
              <a:rPr lang="en-US" sz="2699" spc="26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 Security, FAST NUCES Islamabad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02278" y="2262480"/>
            <a:ext cx="14483443" cy="6433996"/>
            <a:chOff x="0" y="0"/>
            <a:chExt cx="3814569" cy="16945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4569" cy="1694550"/>
            </a:xfrm>
            <a:custGeom>
              <a:avLst/>
              <a:gdLst/>
              <a:ahLst/>
              <a:cxnLst/>
              <a:rect r="r" b="b" t="t" l="l"/>
              <a:pathLst>
                <a:path h="1694550" w="3814569">
                  <a:moveTo>
                    <a:pt x="16036" y="0"/>
                  </a:moveTo>
                  <a:lnTo>
                    <a:pt x="3798533" y="0"/>
                  </a:lnTo>
                  <a:cubicBezTo>
                    <a:pt x="3802786" y="0"/>
                    <a:pt x="3806865" y="1690"/>
                    <a:pt x="3809872" y="4697"/>
                  </a:cubicBezTo>
                  <a:cubicBezTo>
                    <a:pt x="3812880" y="7704"/>
                    <a:pt x="3814569" y="11783"/>
                    <a:pt x="3814569" y="16036"/>
                  </a:cubicBezTo>
                  <a:lnTo>
                    <a:pt x="3814569" y="1678514"/>
                  </a:lnTo>
                  <a:cubicBezTo>
                    <a:pt x="3814569" y="1687371"/>
                    <a:pt x="3807390" y="1694550"/>
                    <a:pt x="3798533" y="1694550"/>
                  </a:cubicBezTo>
                  <a:lnTo>
                    <a:pt x="16036" y="1694550"/>
                  </a:lnTo>
                  <a:cubicBezTo>
                    <a:pt x="7180" y="1694550"/>
                    <a:pt x="0" y="1687371"/>
                    <a:pt x="0" y="1678514"/>
                  </a:cubicBezTo>
                  <a:lnTo>
                    <a:pt x="0" y="16036"/>
                  </a:lnTo>
                  <a:cubicBezTo>
                    <a:pt x="0" y="7180"/>
                    <a:pt x="7180" y="0"/>
                    <a:pt x="16036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814569" cy="1694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410386" y="3911029"/>
            <a:ext cx="13467228" cy="320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Injection remains a top vulnerability (OWASP Top 10).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due to improper validation of SQL query inputs.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defenses (input validation, prepared statements, WAFs) struggle against obfuscated and zero-day attacks.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trend: use of Machine Learning and Deep Learning for intelligent detection.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work evaluates Random Forest + secure logging + GUI-based detection system.</a:t>
            </a:r>
          </a:p>
          <a:p>
            <a:pPr algn="l">
              <a:lnSpc>
                <a:spcPts val="3640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6471043" y="1343156"/>
            <a:ext cx="5345914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</a:t>
            </a: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uction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5581" y="3305986"/>
            <a:ext cx="11743719" cy="5372132"/>
            <a:chOff x="0" y="0"/>
            <a:chExt cx="3092996" cy="141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2996" cy="1414882"/>
            </a:xfrm>
            <a:custGeom>
              <a:avLst/>
              <a:gdLst/>
              <a:ahLst/>
              <a:cxnLst/>
              <a:rect r="r" b="b" t="t" l="l"/>
              <a:pathLst>
                <a:path h="1414882" w="3092996">
                  <a:moveTo>
                    <a:pt x="19777" y="0"/>
                  </a:moveTo>
                  <a:lnTo>
                    <a:pt x="3073219" y="0"/>
                  </a:lnTo>
                  <a:cubicBezTo>
                    <a:pt x="3078464" y="0"/>
                    <a:pt x="3083495" y="2084"/>
                    <a:pt x="3087203" y="5793"/>
                  </a:cubicBezTo>
                  <a:cubicBezTo>
                    <a:pt x="3090912" y="9502"/>
                    <a:pt x="3092996" y="14532"/>
                    <a:pt x="3092996" y="19777"/>
                  </a:cubicBezTo>
                  <a:lnTo>
                    <a:pt x="3092996" y="1395105"/>
                  </a:lnTo>
                  <a:cubicBezTo>
                    <a:pt x="3092996" y="1400350"/>
                    <a:pt x="3090912" y="1405381"/>
                    <a:pt x="3087203" y="1409090"/>
                  </a:cubicBezTo>
                  <a:cubicBezTo>
                    <a:pt x="3083495" y="1412799"/>
                    <a:pt x="3078464" y="1414882"/>
                    <a:pt x="3073219" y="1414882"/>
                  </a:cubicBezTo>
                  <a:lnTo>
                    <a:pt x="19777" y="1414882"/>
                  </a:lnTo>
                  <a:cubicBezTo>
                    <a:pt x="8855" y="1414882"/>
                    <a:pt x="0" y="1406028"/>
                    <a:pt x="0" y="1395105"/>
                  </a:cubicBezTo>
                  <a:lnTo>
                    <a:pt x="0" y="19777"/>
                  </a:lnTo>
                  <a:cubicBezTo>
                    <a:pt x="0" y="14532"/>
                    <a:pt x="2084" y="9502"/>
                    <a:pt x="5793" y="5793"/>
                  </a:cubicBezTo>
                  <a:cubicBezTo>
                    <a:pt x="9502" y="2084"/>
                    <a:pt x="14532" y="0"/>
                    <a:pt x="1977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3092996" cy="1395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5515581" y="3305986"/>
            <a:ext cx="1196036" cy="1196036"/>
            <a:chOff x="0" y="0"/>
            <a:chExt cx="1594714" cy="159471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7357" cy="79735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797357"/>
              <a:ext cx="797357" cy="79735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97357" y="0"/>
              <a:ext cx="797357" cy="797357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6330450" y="7749268"/>
            <a:ext cx="928850" cy="92885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25614" y="2391128"/>
            <a:ext cx="7344269" cy="5504744"/>
          </a:xfrm>
          <a:custGeom>
            <a:avLst/>
            <a:gdLst/>
            <a:ahLst/>
            <a:cxnLst/>
            <a:rect r="r" b="b" t="t" l="l"/>
            <a:pathLst>
              <a:path h="5504744" w="7344269">
                <a:moveTo>
                  <a:pt x="0" y="0"/>
                </a:moveTo>
                <a:lnTo>
                  <a:pt x="7344269" y="0"/>
                </a:lnTo>
                <a:lnTo>
                  <a:pt x="7344269" y="5504744"/>
                </a:lnTo>
                <a:lnTo>
                  <a:pt x="0" y="5504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7769883" y="1544930"/>
            <a:ext cx="6677379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&amp; Research Gap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50602" y="3648283"/>
            <a:ext cx="10715941" cy="502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 attacks evolve rapidly, so traditional signature-based detection fails.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are accurate but not interpretable and require high computational power.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ML systems lack: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detection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Explainability (SHAP, LIME)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Encrypted logs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 of both detection and prevention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Build a practical, interpretable, deployable SQLi detection and prevention system.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7242" y="1211180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0" y="991206"/>
            <a:ext cx="1857699" cy="1857699"/>
            <a:chOff x="0" y="0"/>
            <a:chExt cx="2476932" cy="247693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4811052" y="7573080"/>
            <a:ext cx="1857699" cy="1857699"/>
            <a:chOff x="0" y="0"/>
            <a:chExt cx="2476932" cy="247693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3933935" y="6293132"/>
            <a:ext cx="11301259" cy="3536579"/>
          </a:xfrm>
          <a:custGeom>
            <a:avLst/>
            <a:gdLst/>
            <a:ahLst/>
            <a:cxnLst/>
            <a:rect r="r" b="b" t="t" l="l"/>
            <a:pathLst>
              <a:path h="3536579" w="11301259">
                <a:moveTo>
                  <a:pt x="0" y="0"/>
                </a:moveTo>
                <a:lnTo>
                  <a:pt x="11301259" y="0"/>
                </a:lnTo>
                <a:lnTo>
                  <a:pt x="11301259" y="3536579"/>
                </a:lnTo>
                <a:lnTo>
                  <a:pt x="0" y="353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41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933935" y="2634897"/>
            <a:ext cx="10223686" cy="36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Hussain et al.: Random Forest, XGBoost, AdaBoost, etc.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SHAP &amp; LIME for interpretability.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showed highest accuracy and transparency.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 dataset small, not diverse; no automated prevention.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research extends this by using a public Kaggle dataset + real GUI + prevention module.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130379" y="1000731"/>
            <a:ext cx="1002724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 (Ensemble &amp; Boosting Models)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0379" y="2911129"/>
            <a:ext cx="10198008" cy="4931815"/>
            <a:chOff x="0" y="0"/>
            <a:chExt cx="2685895" cy="12989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895" cy="1298914"/>
            </a:xfrm>
            <a:custGeom>
              <a:avLst/>
              <a:gdLst/>
              <a:ahLst/>
              <a:cxnLst/>
              <a:rect r="r" b="b" t="t" l="l"/>
              <a:pathLst>
                <a:path h="1298914" w="2685895">
                  <a:moveTo>
                    <a:pt x="22775" y="0"/>
                  </a:moveTo>
                  <a:lnTo>
                    <a:pt x="2663120" y="0"/>
                  </a:lnTo>
                  <a:cubicBezTo>
                    <a:pt x="2675699" y="0"/>
                    <a:pt x="2685895" y="10197"/>
                    <a:pt x="2685895" y="22775"/>
                  </a:cubicBezTo>
                  <a:lnTo>
                    <a:pt x="2685895" y="1276139"/>
                  </a:lnTo>
                  <a:cubicBezTo>
                    <a:pt x="2685895" y="1288718"/>
                    <a:pt x="2675699" y="1298914"/>
                    <a:pt x="2663120" y="1298914"/>
                  </a:cubicBezTo>
                  <a:lnTo>
                    <a:pt x="22775" y="1298914"/>
                  </a:lnTo>
                  <a:cubicBezTo>
                    <a:pt x="10197" y="1298914"/>
                    <a:pt x="0" y="1288718"/>
                    <a:pt x="0" y="1276139"/>
                  </a:cubicBezTo>
                  <a:lnTo>
                    <a:pt x="0" y="22775"/>
                  </a:lnTo>
                  <a:cubicBezTo>
                    <a:pt x="0" y="10197"/>
                    <a:pt x="10197" y="0"/>
                    <a:pt x="2277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685895" cy="1279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4130379" y="2911129"/>
            <a:ext cx="1196036" cy="1196036"/>
            <a:chOff x="0" y="0"/>
            <a:chExt cx="1594714" cy="159471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7357" cy="79735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797357"/>
              <a:ext cx="797357" cy="79735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97357" y="0"/>
              <a:ext cx="797357" cy="797357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5164469" y="8429301"/>
            <a:ext cx="928850" cy="92885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4130379" y="3799482"/>
            <a:ext cx="10027242" cy="37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626" indent="-286313" lvl="1">
              <a:lnSpc>
                <a:spcPts val="3713"/>
              </a:lnSpc>
              <a:buFont typeface="Arial"/>
              <a:buChar char="•"/>
            </a:pPr>
            <a:r>
              <a:rPr lang="en-US" sz="2652" spc="-53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Hassan </a:t>
            </a:r>
            <a:r>
              <a:rPr lang="en-US" sz="2652" spc="-53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al.: Deep Neural Networks with 19 handcrafted features gave 98% accuracy.</a:t>
            </a:r>
          </a:p>
          <a:p>
            <a:pPr algn="l" marL="572626" indent="-286313" lvl="1">
              <a:lnSpc>
                <a:spcPts val="3713"/>
              </a:lnSpc>
              <a:buFont typeface="Arial"/>
              <a:buChar char="•"/>
            </a:pPr>
            <a:r>
              <a:rPr lang="en-US" sz="2652" spc="-53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accuracy but lacked scalability and real-world traffic testing.</a:t>
            </a:r>
          </a:p>
          <a:p>
            <a:pPr algn="l" marL="572626" indent="-286313" lvl="1">
              <a:lnSpc>
                <a:spcPts val="3713"/>
              </a:lnSpc>
              <a:buFont typeface="Arial"/>
              <a:buChar char="•"/>
            </a:pPr>
            <a:r>
              <a:rPr lang="en-US" sz="2652" spc="-53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synBERT: transformer-based semantic detection for strong zero-day detection.</a:t>
            </a:r>
          </a:p>
          <a:p>
            <a:pPr algn="l" marL="572626" indent="-286313" lvl="1">
              <a:lnSpc>
                <a:spcPts val="3713"/>
              </a:lnSpc>
              <a:buFont typeface="Arial"/>
              <a:buChar char="•"/>
            </a:pPr>
            <a:r>
              <a:rPr lang="en-US" sz="2652" spc="-53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trend: hybrid models and contextual understanding.</a:t>
            </a:r>
          </a:p>
          <a:p>
            <a:pPr algn="l" marL="572626" indent="-286313" lvl="1">
              <a:lnSpc>
                <a:spcPts val="3713"/>
              </a:lnSpc>
              <a:buFont typeface="Arial"/>
              <a:buChar char="•"/>
            </a:pPr>
            <a:r>
              <a:rPr lang="en-US" sz="2652" spc="-53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Gap: low interpretability and high complexity for deployment.</a:t>
            </a:r>
          </a:p>
          <a:p>
            <a:pPr algn="l">
              <a:lnSpc>
                <a:spcPts val="3713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130379" y="1343156"/>
            <a:ext cx="1002724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 (Deep Learning &amp; Semantic Models)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374163" y="-23657"/>
            <a:ext cx="2684561" cy="2684561"/>
            <a:chOff x="0" y="0"/>
            <a:chExt cx="3579415" cy="35794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-10800000">
            <a:off x="15596457" y="7602439"/>
            <a:ext cx="2684561" cy="2684561"/>
            <a:chOff x="0" y="0"/>
            <a:chExt cx="3579415" cy="357941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89708" cy="178970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1789708"/>
              <a:ext cx="1789708" cy="1789708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89708" y="0"/>
              <a:ext cx="1789708" cy="178970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10330666" y="2795201"/>
            <a:ext cx="5265791" cy="4696598"/>
            <a:chOff x="0" y="0"/>
            <a:chExt cx="1386875" cy="12369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86875" cy="1236964"/>
            </a:xfrm>
            <a:custGeom>
              <a:avLst/>
              <a:gdLst/>
              <a:ahLst/>
              <a:cxnLst/>
              <a:rect r="r" b="b" t="t" l="l"/>
              <a:pathLst>
                <a:path h="1236964" w="1386875">
                  <a:moveTo>
                    <a:pt x="44107" y="0"/>
                  </a:moveTo>
                  <a:lnTo>
                    <a:pt x="1342768" y="0"/>
                  </a:lnTo>
                  <a:cubicBezTo>
                    <a:pt x="1367128" y="0"/>
                    <a:pt x="1386875" y="19747"/>
                    <a:pt x="1386875" y="44107"/>
                  </a:cubicBezTo>
                  <a:lnTo>
                    <a:pt x="1386875" y="1192857"/>
                  </a:lnTo>
                  <a:cubicBezTo>
                    <a:pt x="1386875" y="1217217"/>
                    <a:pt x="1367128" y="1236964"/>
                    <a:pt x="1342768" y="1236964"/>
                  </a:cubicBezTo>
                  <a:lnTo>
                    <a:pt x="44107" y="1236964"/>
                  </a:lnTo>
                  <a:cubicBezTo>
                    <a:pt x="19747" y="1236964"/>
                    <a:pt x="0" y="1217217"/>
                    <a:pt x="0" y="1192857"/>
                  </a:cubicBezTo>
                  <a:lnTo>
                    <a:pt x="0" y="44107"/>
                  </a:lnTo>
                  <a:cubicBezTo>
                    <a:pt x="0" y="19747"/>
                    <a:pt x="19747" y="0"/>
                    <a:pt x="4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19050"/>
              <a:ext cx="1386875" cy="121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04714" y="2594229"/>
            <a:ext cx="14138898" cy="731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framework includes: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Preprocessing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removal, text normalization, tokenization.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Hybrid Feature Extraction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 vectorization &amp; custom handcrafted features.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Training (Random Forest)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as rf_model.pkl.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Explainability Layer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SHAP.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 Integration (Tkinter)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predictions and probability scores.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Logging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AES/Fernet-encrypted logs.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b="true" sz="2600" spc="-52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Prevention Demo</a:t>
            </a:r>
          </a:p>
          <a:p>
            <a:pPr algn="just" marL="1122688" indent="-374229" lvl="2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 vs unsafe queries using parameterized statements.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519352" y="3622063"/>
            <a:ext cx="8450320" cy="4807238"/>
          </a:xfrm>
          <a:custGeom>
            <a:avLst/>
            <a:gdLst/>
            <a:ahLst/>
            <a:cxnLst/>
            <a:rect r="r" b="b" t="t" l="l"/>
            <a:pathLst>
              <a:path h="4807238" w="8450320">
                <a:moveTo>
                  <a:pt x="0" y="0"/>
                </a:moveTo>
                <a:lnTo>
                  <a:pt x="8450321" y="0"/>
                </a:lnTo>
                <a:lnTo>
                  <a:pt x="8450321" y="4807238"/>
                </a:lnTo>
                <a:lnTo>
                  <a:pt x="0" y="480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1" t="0" r="-68076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4543488" y="1216279"/>
            <a:ext cx="9201025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 / Proposed Framework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34934" y="2911129"/>
            <a:ext cx="9632111" cy="6447021"/>
            <a:chOff x="0" y="0"/>
            <a:chExt cx="2536852" cy="1697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6852" cy="1697981"/>
            </a:xfrm>
            <a:custGeom>
              <a:avLst/>
              <a:gdLst/>
              <a:ahLst/>
              <a:cxnLst/>
              <a:rect r="r" b="b" t="t" l="l"/>
              <a:pathLst>
                <a:path h="1697981" w="2536852">
                  <a:moveTo>
                    <a:pt x="24113" y="0"/>
                  </a:moveTo>
                  <a:lnTo>
                    <a:pt x="2512739" y="0"/>
                  </a:lnTo>
                  <a:cubicBezTo>
                    <a:pt x="2519134" y="0"/>
                    <a:pt x="2525268" y="2540"/>
                    <a:pt x="2529790" y="7062"/>
                  </a:cubicBezTo>
                  <a:cubicBezTo>
                    <a:pt x="2534312" y="11585"/>
                    <a:pt x="2536852" y="17718"/>
                    <a:pt x="2536852" y="24113"/>
                  </a:cubicBezTo>
                  <a:lnTo>
                    <a:pt x="2536852" y="1673868"/>
                  </a:lnTo>
                  <a:cubicBezTo>
                    <a:pt x="2536852" y="1680263"/>
                    <a:pt x="2534312" y="1686396"/>
                    <a:pt x="2529790" y="1690918"/>
                  </a:cubicBezTo>
                  <a:cubicBezTo>
                    <a:pt x="2525268" y="1695441"/>
                    <a:pt x="2519134" y="1697981"/>
                    <a:pt x="2512739" y="1697981"/>
                  </a:cubicBezTo>
                  <a:lnTo>
                    <a:pt x="24113" y="1697981"/>
                  </a:lnTo>
                  <a:cubicBezTo>
                    <a:pt x="17718" y="1697981"/>
                    <a:pt x="11585" y="1695441"/>
                    <a:pt x="7062" y="1690918"/>
                  </a:cubicBezTo>
                  <a:cubicBezTo>
                    <a:pt x="2540" y="1686396"/>
                    <a:pt x="0" y="1680263"/>
                    <a:pt x="0" y="1673868"/>
                  </a:cubicBezTo>
                  <a:lnTo>
                    <a:pt x="0" y="24113"/>
                  </a:lnTo>
                  <a:cubicBezTo>
                    <a:pt x="0" y="17718"/>
                    <a:pt x="2540" y="11585"/>
                    <a:pt x="7062" y="7062"/>
                  </a:cubicBezTo>
                  <a:cubicBezTo>
                    <a:pt x="11585" y="2540"/>
                    <a:pt x="17718" y="0"/>
                    <a:pt x="2411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536852" cy="1678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6836916" y="2911129"/>
            <a:ext cx="1196036" cy="1196036"/>
            <a:chOff x="0" y="0"/>
            <a:chExt cx="1594714" cy="159471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7357" cy="79735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797357"/>
              <a:ext cx="797357" cy="79735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97357" y="0"/>
              <a:ext cx="797357" cy="797357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35" id="35"/>
          <p:cNvSpPr txBox="true"/>
          <p:nvPr/>
        </p:nvSpPr>
        <p:spPr>
          <a:xfrm rot="0">
            <a:off x="7745880" y="3442472"/>
            <a:ext cx="10841899" cy="548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dataset from Kaggle containing: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SQL queries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Malicious SQL injection attempts</a:t>
            </a:r>
          </a:p>
          <a:p>
            <a:pPr algn="l">
              <a:lnSpc>
                <a:spcPts val="3640"/>
              </a:lnSpc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include: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length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density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characters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Digit/operator ratios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 tokens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 training / 20% testing split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dataset to avoid bias.</a:t>
            </a:r>
          </a:p>
          <a:p>
            <a:pPr algn="l">
              <a:lnSpc>
                <a:spcPts val="3640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5540177" y="8380395"/>
            <a:ext cx="928850" cy="92885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224327" y="3143098"/>
            <a:ext cx="6867535" cy="5701722"/>
          </a:xfrm>
          <a:custGeom>
            <a:avLst/>
            <a:gdLst/>
            <a:ahLst/>
            <a:cxnLst/>
            <a:rect r="r" b="b" t="t" l="l"/>
            <a:pathLst>
              <a:path h="5701722" w="6867535">
                <a:moveTo>
                  <a:pt x="0" y="0"/>
                </a:moveTo>
                <a:lnTo>
                  <a:pt x="6867535" y="0"/>
                </a:lnTo>
                <a:lnTo>
                  <a:pt x="6867535" y="5701722"/>
                </a:lnTo>
                <a:lnTo>
                  <a:pt x="0" y="5701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2822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980015" y="1807580"/>
            <a:ext cx="5345914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Description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21448" y="-464987"/>
            <a:ext cx="3522171" cy="3522171"/>
            <a:chOff x="0" y="0"/>
            <a:chExt cx="4696228" cy="4696228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1565409" y="0"/>
              <a:ext cx="1565409" cy="1565409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400000">
              <a:off x="3130819" y="1565409"/>
              <a:ext cx="1565409" cy="156540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1565409" y="3130819"/>
              <a:ext cx="1565409" cy="156540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0" y="1565409"/>
              <a:ext cx="1565409" cy="156540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0" y="1857497"/>
            <a:ext cx="3522171" cy="3522171"/>
            <a:chOff x="0" y="0"/>
            <a:chExt cx="4696228" cy="4696228"/>
          </a:xfrm>
        </p:grpSpPr>
        <p:grpSp>
          <p:nvGrpSpPr>
            <p:cNvPr name="Group 36" id="36"/>
            <p:cNvGrpSpPr/>
            <p:nvPr/>
          </p:nvGrpSpPr>
          <p:grpSpPr>
            <a:xfrm rot="5400000">
              <a:off x="1565409" y="0"/>
              <a:ext cx="1565409" cy="1565409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5400000">
              <a:off x="3130819" y="1565409"/>
              <a:ext cx="1565409" cy="1565409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5400000">
              <a:off x="1565409" y="3130819"/>
              <a:ext cx="1565409" cy="1565409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5400000">
              <a:off x="0" y="1565409"/>
              <a:ext cx="1565409" cy="1565409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15967558" y="7959863"/>
            <a:ext cx="3522171" cy="3522171"/>
            <a:chOff x="0" y="0"/>
            <a:chExt cx="4696228" cy="4696228"/>
          </a:xfrm>
        </p:grpSpPr>
        <p:grpSp>
          <p:nvGrpSpPr>
            <p:cNvPr name="Group 49" id="49"/>
            <p:cNvGrpSpPr/>
            <p:nvPr/>
          </p:nvGrpSpPr>
          <p:grpSpPr>
            <a:xfrm rot="5400000">
              <a:off x="1565409" y="0"/>
              <a:ext cx="1565409" cy="1565409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5400000">
              <a:off x="3130819" y="1565409"/>
              <a:ext cx="1565409" cy="1565409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5400000">
              <a:off x="1565409" y="3130819"/>
              <a:ext cx="1565409" cy="1565409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5400000">
              <a:off x="0" y="1565409"/>
              <a:ext cx="1565409" cy="1565409"/>
              <a:chOff x="0" y="0"/>
              <a:chExt cx="812800" cy="8128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5400000">
            <a:off x="4939661" y="9112943"/>
            <a:ext cx="1174057" cy="1174057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0716289" y="2224342"/>
            <a:ext cx="6543011" cy="3680443"/>
          </a:xfrm>
          <a:custGeom>
            <a:avLst/>
            <a:gdLst/>
            <a:ahLst/>
            <a:cxnLst/>
            <a:rect r="r" b="b" t="t" l="l"/>
            <a:pathLst>
              <a:path h="3680443" w="6543011">
                <a:moveTo>
                  <a:pt x="0" y="0"/>
                </a:moveTo>
                <a:lnTo>
                  <a:pt x="6543011" y="0"/>
                </a:lnTo>
                <a:lnTo>
                  <a:pt x="6543011" y="3680443"/>
                </a:lnTo>
                <a:lnTo>
                  <a:pt x="0" y="368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0716289" y="5904785"/>
            <a:ext cx="6543011" cy="3645002"/>
          </a:xfrm>
          <a:custGeom>
            <a:avLst/>
            <a:gdLst/>
            <a:ahLst/>
            <a:cxnLst/>
            <a:rect r="r" b="b" t="t" l="l"/>
            <a:pathLst>
              <a:path h="3645002" w="6543011">
                <a:moveTo>
                  <a:pt x="0" y="0"/>
                </a:moveTo>
                <a:lnTo>
                  <a:pt x="6543011" y="0"/>
                </a:lnTo>
                <a:lnTo>
                  <a:pt x="6543011" y="3645003"/>
                </a:lnTo>
                <a:lnTo>
                  <a:pt x="0" y="3645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" r="0" b="-486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1493206" y="2233867"/>
            <a:ext cx="6892909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&amp; Evaluation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125004" y="3168708"/>
            <a:ext cx="9049349" cy="594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achieved: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 = 0.9994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accuracy, precision, and recall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low false positives</a:t>
            </a:r>
          </a:p>
          <a:p>
            <a:pPr algn="l">
              <a:lnSpc>
                <a:spcPts val="3640"/>
              </a:lnSpc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</a:t>
            </a: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outputs include: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</a:t>
            </a: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curve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eature importance ranking (top 20)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tests show successful detection of normal and malicious queries.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52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logs decrypt correctly and maintain integrity.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7288640" y="5797260"/>
            <a:ext cx="4374310" cy="0"/>
          </a:xfrm>
          <a:prstGeom prst="line">
            <a:avLst/>
          </a:prstGeom>
          <a:ln cap="rnd" w="19050">
            <a:solidFill>
              <a:srgbClr val="A6A6A6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4792998" y="0"/>
            <a:ext cx="3522171" cy="2348114"/>
            <a:chOff x="0" y="0"/>
            <a:chExt cx="4696228" cy="3130819"/>
          </a:xfrm>
        </p:grpSpPr>
        <p:grpSp>
          <p:nvGrpSpPr>
            <p:cNvPr name="Group 14" id="14"/>
            <p:cNvGrpSpPr/>
            <p:nvPr/>
          </p:nvGrpSpPr>
          <p:grpSpPr>
            <a:xfrm rot="5400000">
              <a:off x="3130819" y="0"/>
              <a:ext cx="1565409" cy="1565409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104561" lIns="104561" bIns="104561" rIns="104561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5400000">
              <a:off x="0" y="5718"/>
              <a:ext cx="1565409" cy="156540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104561" lIns="104561" bIns="104561" rIns="104561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5400000">
              <a:off x="1565409" y="1565409"/>
              <a:ext cx="1565409" cy="1565409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104561" lIns="104561" bIns="104561" rIns="104561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3308281" y="-732385"/>
            <a:ext cx="2348114" cy="3522171"/>
            <a:chOff x="0" y="0"/>
            <a:chExt cx="3130819" cy="4696228"/>
          </a:xfrm>
        </p:grpSpPr>
        <p:grpSp>
          <p:nvGrpSpPr>
            <p:cNvPr name="Group 24" id="24"/>
            <p:cNvGrpSpPr/>
            <p:nvPr/>
          </p:nvGrpSpPr>
          <p:grpSpPr>
            <a:xfrm rot="5400000">
              <a:off x="0" y="0"/>
              <a:ext cx="1565409" cy="1565409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5400000">
              <a:off x="1565409" y="1565409"/>
              <a:ext cx="1565409" cy="1565409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5400000">
              <a:off x="0" y="3130819"/>
              <a:ext cx="1565409" cy="1565409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-5400000">
            <a:off x="17386319" y="8429301"/>
            <a:ext cx="1857699" cy="1857699"/>
            <a:chOff x="0" y="0"/>
            <a:chExt cx="2476932" cy="2476932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1028700" y="1779581"/>
            <a:ext cx="13646110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5000" spc="-5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omparison with Existing Techniques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64286" y="2976556"/>
            <a:ext cx="9974938" cy="545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Compared to: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&amp; SVM : lower accuracy for complex SQL patterns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: higher accuracy but expensive &amp; less interpretable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Boosting Models : powerful but require heavy tuning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Random Forest Pros: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accuracy and interpretability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inference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with hybrid features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deployment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Practical Advantages: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GUI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Preventive demonstration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Encrypted logs (rare in research prototypes)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037502" y="8058006"/>
            <a:ext cx="3522171" cy="3522171"/>
            <a:chOff x="0" y="0"/>
            <a:chExt cx="4696228" cy="4696228"/>
          </a:xfrm>
        </p:grpSpPr>
        <p:grpSp>
          <p:nvGrpSpPr>
            <p:cNvPr name="Group 13" id="13"/>
            <p:cNvGrpSpPr/>
            <p:nvPr/>
          </p:nvGrpSpPr>
          <p:grpSpPr>
            <a:xfrm rot="5400000">
              <a:off x="1565409" y="0"/>
              <a:ext cx="1565409" cy="156540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5400000">
              <a:off x="3130819" y="1565409"/>
              <a:ext cx="1565409" cy="156540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565409" y="3130819"/>
              <a:ext cx="1565409" cy="156540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5400000">
              <a:off x="0" y="1565409"/>
              <a:ext cx="1565409" cy="1565409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2320945" y="1784827"/>
            <a:ext cx="13646110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Future Work</a:t>
            </a:r>
          </a:p>
        </p:txBody>
      </p:sp>
      <p:grpSp>
        <p:nvGrpSpPr>
          <p:cNvPr name="Group 26" id="26"/>
          <p:cNvGrpSpPr/>
          <p:nvPr/>
        </p:nvGrpSpPr>
        <p:grpSpPr>
          <a:xfrm rot="5400000">
            <a:off x="2202757" y="2288065"/>
            <a:ext cx="1174057" cy="117405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 marL="0" indent="0" lvl="0">
                <a:lnSpc>
                  <a:spcPts val="250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1028700" y="2288065"/>
            <a:ext cx="1174057" cy="117405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04561" lIns="104561" bIns="104561" rIns="104561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3234969" y="9354667"/>
            <a:ext cx="928850" cy="92885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736621" y="803205"/>
            <a:ext cx="1857699" cy="3715398"/>
            <a:chOff x="0" y="0"/>
            <a:chExt cx="2476932" cy="4953864"/>
          </a:xfrm>
        </p:grpSpPr>
        <p:grpSp>
          <p:nvGrpSpPr>
            <p:cNvPr name="Group 36" id="36"/>
            <p:cNvGrpSpPr/>
            <p:nvPr/>
          </p:nvGrpSpPr>
          <p:grpSpPr>
            <a:xfrm rot="540000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540000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5400000">
              <a:off x="1238466" y="1238466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5400000">
              <a:off x="1238466" y="2476932"/>
              <a:ext cx="1238466" cy="1238466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5400000">
              <a:off x="1238466" y="3715398"/>
              <a:ext cx="1238466" cy="1238466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82723" lIns="82723" bIns="82723" rIns="82723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4862394" y="2808418"/>
            <a:ext cx="9388648" cy="685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implemented an effective SQLi detection and prevention framework.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performed exceptionally well with near-perfect AUC.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includes explainability (SHAP), GUI, and secure encrypted logging.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 dataset diversity, scalability for enterprise-level traffic.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600" b="true">
                <a:solidFill>
                  <a:srgbClr val="2229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real-time web traffic streams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ensemble &amp; deep learning models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blocking of attacks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22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deployment with API integration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E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439" y="4169811"/>
            <a:ext cx="7757122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5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5400000">
            <a:off x="11411802" y="2066203"/>
            <a:ext cx="2977181" cy="2977181"/>
            <a:chOff x="0" y="0"/>
            <a:chExt cx="3969575" cy="39695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5400000">
            <a:off x="5525495" y="1967693"/>
            <a:ext cx="1488591" cy="14885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4036904" y="6940710"/>
            <a:ext cx="1488591" cy="148859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4036904" y="3456284"/>
            <a:ext cx="1488591" cy="148859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1089327" y="7417953"/>
            <a:ext cx="1488591" cy="148859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2548314" y="6940710"/>
            <a:ext cx="1488591" cy="148859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52400" y="8581701"/>
            <a:ext cx="1857699" cy="1857699"/>
            <a:chOff x="0" y="0"/>
            <a:chExt cx="2476932" cy="247693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6693937" y="5076825"/>
            <a:ext cx="490012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676E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Any Questions?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DAG4qqog290</dc:identifier>
  <dcterms:modified xsi:type="dcterms:W3CDTF">2011-08-01T06:04:30Z</dcterms:modified>
  <cp:revision>1</cp:revision>
  <dc:title>The Future of Tech Consulting.</dc:title>
</cp:coreProperties>
</file>